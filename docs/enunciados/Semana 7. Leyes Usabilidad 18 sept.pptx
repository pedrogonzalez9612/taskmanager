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455" r:id="rId6"/>
    <p:sldId id="456" r:id="rId7"/>
    <p:sldId id="457" r:id="rId8"/>
    <p:sldId id="825" r:id="rId9"/>
    <p:sldId id="469" r:id="rId10"/>
    <p:sldId id="470" r:id="rId11"/>
    <p:sldId id="818" r:id="rId12"/>
    <p:sldId id="824" r:id="rId13"/>
    <p:sldId id="819" r:id="rId14"/>
    <p:sldId id="822" r:id="rId15"/>
    <p:sldId id="823" r:id="rId16"/>
    <p:sldId id="274" r:id="rId17"/>
  </p:sldIdLst>
  <p:sldSz cx="12188825" cy="6858000"/>
  <p:notesSz cx="6858000" cy="9144000"/>
  <p:defaultTextStyle>
    <a:defPPr>
      <a:defRPr lang="es-CO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9BBB"/>
    <a:srgbClr val="142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786" y="96"/>
      </p:cViewPr>
      <p:guideLst>
        <p:guide orient="horz" pos="2160"/>
        <p:guide pos="288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61E6D-DCAC-4E33-B8E1-CCD614E3B7B4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8DCFC-A51E-4DC8-B9D1-E301C0CC17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57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162" y="2130427"/>
            <a:ext cx="10360501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9033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200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2833" y="4406902"/>
            <a:ext cx="10360501" cy="1362075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6503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441" y="1600202"/>
            <a:ext cx="5383398" cy="4525963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5986" y="1600202"/>
            <a:ext cx="5383398" cy="4525963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16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442" y="1535114"/>
            <a:ext cx="5385515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442" y="2174875"/>
            <a:ext cx="5385515" cy="3951288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1757" y="1535114"/>
            <a:ext cx="5387631" cy="639763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1" cy="3951288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27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044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5594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445" y="273050"/>
            <a:ext cx="4010039" cy="1162051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5492" y="273053"/>
            <a:ext cx="6813892" cy="5853113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445" y="1435103"/>
            <a:ext cx="4010039" cy="4691063"/>
          </a:xfrm>
        </p:spPr>
        <p:txBody>
          <a:bodyPr/>
          <a:lstStyle>
            <a:lvl1pPr marL="0" indent="0">
              <a:buNone/>
              <a:defRPr sz="1600"/>
            </a:lvl1pPr>
            <a:lvl2pPr marL="509412" indent="0">
              <a:buNone/>
              <a:defRPr sz="1300"/>
            </a:lvl2pPr>
            <a:lvl3pPr marL="1018824" indent="0">
              <a:buNone/>
              <a:defRPr sz="1100"/>
            </a:lvl3pPr>
            <a:lvl4pPr marL="1528237" indent="0">
              <a:buNone/>
              <a:defRPr sz="1000"/>
            </a:lvl4pPr>
            <a:lvl5pPr marL="2037649" indent="0">
              <a:buNone/>
              <a:defRPr sz="1000"/>
            </a:lvl5pPr>
            <a:lvl6pPr marL="2547061" indent="0">
              <a:buNone/>
              <a:defRPr sz="1000"/>
            </a:lvl6pPr>
            <a:lvl7pPr marL="3056473" indent="0">
              <a:buNone/>
              <a:defRPr sz="1000"/>
            </a:lvl7pPr>
            <a:lvl8pPr marL="3565886" indent="0">
              <a:buNone/>
              <a:defRPr sz="1000"/>
            </a:lvl8pPr>
            <a:lvl9pPr marL="4075298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27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095" y="4800601"/>
            <a:ext cx="7313295" cy="566739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600"/>
            </a:lvl1pPr>
            <a:lvl2pPr marL="509412" indent="0">
              <a:buNone/>
              <a:defRPr sz="3100"/>
            </a:lvl2pPr>
            <a:lvl3pPr marL="1018824" indent="0">
              <a:buNone/>
              <a:defRPr sz="2700"/>
            </a:lvl3pPr>
            <a:lvl4pPr marL="1528237" indent="0">
              <a:buNone/>
              <a:defRPr sz="2200"/>
            </a:lvl4pPr>
            <a:lvl5pPr marL="2037649" indent="0">
              <a:buNone/>
              <a:defRPr sz="2200"/>
            </a:lvl5pPr>
            <a:lvl6pPr marL="2547061" indent="0">
              <a:buNone/>
              <a:defRPr sz="2200"/>
            </a:lvl6pPr>
            <a:lvl7pPr marL="3056473" indent="0">
              <a:buNone/>
              <a:defRPr sz="2200"/>
            </a:lvl7pPr>
            <a:lvl8pPr marL="3565886" indent="0">
              <a:buNone/>
              <a:defRPr sz="2200"/>
            </a:lvl8pPr>
            <a:lvl9pPr marL="4075298" indent="0">
              <a:buNone/>
              <a:defRPr sz="22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095" y="5367339"/>
            <a:ext cx="7313295" cy="804863"/>
          </a:xfrm>
        </p:spPr>
        <p:txBody>
          <a:bodyPr/>
          <a:lstStyle>
            <a:lvl1pPr marL="0" indent="0">
              <a:buNone/>
              <a:defRPr sz="1600"/>
            </a:lvl1pPr>
            <a:lvl2pPr marL="509412" indent="0">
              <a:buNone/>
              <a:defRPr sz="1300"/>
            </a:lvl2pPr>
            <a:lvl3pPr marL="1018824" indent="0">
              <a:buNone/>
              <a:defRPr sz="1100"/>
            </a:lvl3pPr>
            <a:lvl4pPr marL="1528237" indent="0">
              <a:buNone/>
              <a:defRPr sz="1000"/>
            </a:lvl4pPr>
            <a:lvl5pPr marL="2037649" indent="0">
              <a:buNone/>
              <a:defRPr sz="1000"/>
            </a:lvl5pPr>
            <a:lvl6pPr marL="2547061" indent="0">
              <a:buNone/>
              <a:defRPr sz="1000"/>
            </a:lvl6pPr>
            <a:lvl7pPr marL="3056473" indent="0">
              <a:buNone/>
              <a:defRPr sz="1000"/>
            </a:lvl7pPr>
            <a:lvl8pPr marL="3565886" indent="0">
              <a:buNone/>
              <a:defRPr sz="1000"/>
            </a:lvl8pPr>
            <a:lvl9pPr marL="4075298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6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50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523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1143000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441" y="1600202"/>
            <a:ext cx="10969943" cy="4525963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72C25-D6D2-4327-B841-572F37A43D2C}" type="datetimeFigureOut">
              <a:rPr lang="es-CO" smtClean="0"/>
              <a:t>18/09/2026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8289E-7FD7-44DD-9FEA-23ECD1E5DF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61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18824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59" indent="-382059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95" indent="-318383" algn="l" defTabSz="1018824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531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943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355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33772" y="764704"/>
            <a:ext cx="5508361" cy="5040560"/>
          </a:xfrm>
        </p:spPr>
        <p:txBody>
          <a:bodyPr>
            <a:noAutofit/>
          </a:bodyPr>
          <a:lstStyle/>
          <a:p>
            <a:r>
              <a:rPr lang="es-CO" sz="4000" b="1" dirty="0">
                <a:solidFill>
                  <a:schemeClr val="bg1"/>
                </a:solidFill>
                <a:latin typeface="Tahoma Bold"/>
                <a:cs typeface="Tahoma Bold"/>
              </a:rPr>
              <a:t>FACULTAD DE INGENIERÍAS</a:t>
            </a:r>
            <a:br>
              <a:rPr lang="es-CO" sz="4000" b="1" dirty="0">
                <a:solidFill>
                  <a:schemeClr val="bg1"/>
                </a:solidFill>
                <a:latin typeface="Tahoma Bold"/>
                <a:cs typeface="Tahoma Bold"/>
              </a:rPr>
            </a:br>
            <a:br>
              <a:rPr lang="es-CO" sz="4000" b="1" dirty="0">
                <a:solidFill>
                  <a:schemeClr val="bg1"/>
                </a:solidFill>
                <a:latin typeface="Tahoma Bold"/>
                <a:cs typeface="Tahoma Bold"/>
              </a:rPr>
            </a:br>
            <a:r>
              <a:rPr lang="es-ES" sz="4000" dirty="0">
                <a:solidFill>
                  <a:schemeClr val="bg1"/>
                </a:solidFill>
              </a:rPr>
              <a:t>Leyes Usabilidad</a:t>
            </a:r>
            <a:br>
              <a:rPr lang="es-ES" sz="4000" dirty="0">
                <a:solidFill>
                  <a:schemeClr val="bg1"/>
                </a:solidFill>
              </a:rPr>
            </a:br>
            <a:br>
              <a:rPr lang="es-ES" sz="4000" dirty="0">
                <a:solidFill>
                  <a:schemeClr val="bg1"/>
                </a:solidFill>
              </a:rPr>
            </a:br>
            <a:r>
              <a:rPr lang="es-ES" sz="4000" dirty="0">
                <a:solidFill>
                  <a:schemeClr val="bg1"/>
                </a:solidFill>
              </a:rPr>
              <a:t>Diseño de Interfaces</a:t>
            </a:r>
            <a:endParaRPr lang="es-CO" sz="4000" b="1" dirty="0">
              <a:solidFill>
                <a:schemeClr val="bg1"/>
              </a:solidFill>
              <a:latin typeface="Tahoma Bold"/>
              <a:cs typeface="Tahoma Bold"/>
            </a:endParaRPr>
          </a:p>
        </p:txBody>
      </p:sp>
    </p:spTree>
    <p:extLst>
      <p:ext uri="{BB962C8B-B14F-4D97-AF65-F5344CB8AC3E}">
        <p14:creationId xmlns:p14="http://schemas.microsoft.com/office/powerpoint/2010/main" val="206419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47BAA09-F67B-44B2-B0DE-9443600BD8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84" t="1699" r="1176" b="20732"/>
          <a:stretch/>
        </p:blipFill>
        <p:spPr>
          <a:xfrm>
            <a:off x="1197868" y="404664"/>
            <a:ext cx="9001000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00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A4391-7DFE-4428-85ED-4953136E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Leyes usabilidad las mas importantes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111300-64B2-407F-97B7-CF0E8537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916" y="1772816"/>
            <a:ext cx="8640959" cy="3600399"/>
          </a:xfrm>
        </p:spPr>
        <p:txBody>
          <a:bodyPr>
            <a:normAutofit fontScale="62500" lnSpcReduction="20000"/>
          </a:bodyPr>
          <a:lstStyle/>
          <a:p>
            <a:r>
              <a:rPr lang="es-ES" dirty="0"/>
              <a:t>Ley de </a:t>
            </a:r>
            <a:r>
              <a:rPr lang="es-ES" dirty="0" err="1"/>
              <a:t>Hick</a:t>
            </a:r>
            <a:r>
              <a:rPr lang="es-ES" dirty="0"/>
              <a:t>: Más opciones = más tiempo para decidir.</a:t>
            </a:r>
          </a:p>
          <a:p>
            <a:r>
              <a:rPr lang="es-ES" dirty="0"/>
              <a:t>Ley de </a:t>
            </a:r>
            <a:r>
              <a:rPr lang="es-ES" dirty="0" err="1"/>
              <a:t>Fitts</a:t>
            </a:r>
            <a:r>
              <a:rPr lang="es-ES" dirty="0"/>
              <a:t> :Los elementos grandes y cercanos son más fáciles de seleccionar.</a:t>
            </a:r>
          </a:p>
          <a:p>
            <a:r>
              <a:rPr lang="es-ES" dirty="0"/>
              <a:t>Ley de Jakob :Los usuarios esperan que los sistemas funcionen de manera similar a otros que ya conocen.</a:t>
            </a:r>
          </a:p>
          <a:p>
            <a:r>
              <a:rPr lang="es-ES" dirty="0"/>
              <a:t>Ley de Miller :La capacidad de procesamiento de información es limitada.</a:t>
            </a:r>
          </a:p>
          <a:p>
            <a:r>
              <a:rPr lang="es-ES" dirty="0"/>
              <a:t>Ley de Proximidad :Los elementos cercanos se perciben como relacionados.</a:t>
            </a:r>
          </a:p>
          <a:p>
            <a:r>
              <a:rPr lang="es-ES" dirty="0"/>
              <a:t>Efecto Estético-Usabilidad: Los diseños atractivos suelen percibirse como más fáciles de usar.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4097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A7869-AA79-4A03-945B-DEDA80CF5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¿Porqué es importante la usabilidad?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E9A036-52A4-4332-93F8-E16C9B01CD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532"/>
          <a:stretch/>
        </p:blipFill>
        <p:spPr>
          <a:xfrm>
            <a:off x="6237499" y="1152233"/>
            <a:ext cx="3860469" cy="455353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99D2DE0-2623-4705-96CD-34C27D37F1B0}"/>
              </a:ext>
            </a:extLst>
          </p:cNvPr>
          <p:cNvSpPr txBox="1"/>
          <p:nvPr/>
        </p:nvSpPr>
        <p:spPr>
          <a:xfrm>
            <a:off x="795643" y="1268760"/>
            <a:ext cx="3960440" cy="132343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La usabilidad es el atributo de calidad que mide lo fácil que son de usar las interfaces web.</a:t>
            </a:r>
          </a:p>
          <a:p>
            <a:pPr lvl="5"/>
            <a:r>
              <a:rPr lang="es-CO" dirty="0"/>
              <a:t> </a:t>
            </a:r>
            <a:r>
              <a:rPr lang="es-CO" sz="1200" b="1" dirty="0"/>
              <a:t>Jacob Nielsen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9F1173-AB6A-417E-BB0A-B8E23EFC5256}"/>
              </a:ext>
            </a:extLst>
          </p:cNvPr>
          <p:cNvSpPr txBox="1"/>
          <p:nvPr/>
        </p:nvSpPr>
        <p:spPr>
          <a:xfrm>
            <a:off x="975663" y="3212976"/>
            <a:ext cx="3600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400" dirty="0"/>
              <a:t>La usabilidad es un factor estratégico fundamental para conseguir un máximo aprovechamiento de los recursos.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400" dirty="0"/>
              <a:t>Los usuarios:</a:t>
            </a:r>
          </a:p>
          <a:p>
            <a:pPr marL="795162" lvl="1" indent="-285750">
              <a:buFont typeface="Arial" panose="020B0604020202020204" pitchFamily="34" charset="0"/>
              <a:buChar char="•"/>
            </a:pPr>
            <a:r>
              <a:rPr lang="es-CO" sz="1400" dirty="0"/>
              <a:t>Van fácilmente de un sitio a otro</a:t>
            </a:r>
          </a:p>
          <a:p>
            <a:pPr marL="795162" lvl="1" indent="-285750">
              <a:buFont typeface="Arial" panose="020B0604020202020204" pitchFamily="34" charset="0"/>
              <a:buChar char="•"/>
            </a:pPr>
            <a:r>
              <a:rPr lang="es-CO" sz="1400" dirty="0"/>
              <a:t>Solo tardan 1 o 2 minutos para conocer el funcionamiento</a:t>
            </a:r>
          </a:p>
        </p:txBody>
      </p:sp>
    </p:spTree>
    <p:extLst>
      <p:ext uri="{BB962C8B-B14F-4D97-AF65-F5344CB8AC3E}">
        <p14:creationId xmlns:p14="http://schemas.microsoft.com/office/powerpoint/2010/main" val="277314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B9FFB8A-3F80-4F99-BF07-82950EEEE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5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62134-0A7A-4C16-8B2B-9A749301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Indicadores de evaluación usabilidad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7B466A9-6465-4489-958E-D4FDACEAFC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877319"/>
              </p:ext>
            </p:extLst>
          </p:nvPr>
        </p:nvGraphicFramePr>
        <p:xfrm>
          <a:off x="1701924" y="1408139"/>
          <a:ext cx="8396264" cy="452596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25724">
                  <a:extLst>
                    <a:ext uri="{9D8B030D-6E8A-4147-A177-3AD203B41FA5}">
                      <a16:colId xmlns:a16="http://schemas.microsoft.com/office/drawing/2014/main" val="4147752813"/>
                    </a:ext>
                  </a:extLst>
                </a:gridCol>
                <a:gridCol w="7870540">
                  <a:extLst>
                    <a:ext uri="{9D8B030D-6E8A-4147-A177-3AD203B41FA5}">
                      <a16:colId xmlns:a16="http://schemas.microsoft.com/office/drawing/2014/main" val="4193135808"/>
                    </a:ext>
                  </a:extLst>
                </a:gridCol>
              </a:tblGrid>
              <a:tr h="303286">
                <a:tc>
                  <a:txBody>
                    <a:bodyPr/>
                    <a:lstStyle/>
                    <a:p>
                      <a:r>
                        <a:rPr lang="es-CO" sz="1500"/>
                        <a:t>Nº</a:t>
                      </a:r>
                    </a:p>
                  </a:txBody>
                  <a:tcPr marL="69989" marR="69989" marT="34995" marB="34995" anchor="ctr"/>
                </a:tc>
                <a:tc>
                  <a:txBody>
                    <a:bodyPr/>
                    <a:lstStyle/>
                    <a:p>
                      <a:r>
                        <a:rPr lang="es-CO" sz="1500"/>
                        <a:t>Criterio</a:t>
                      </a:r>
                    </a:p>
                  </a:txBody>
                  <a:tcPr marL="69989" marR="69989" marT="34995" marB="34995" anchor="ctr"/>
                </a:tc>
                <a:extLst>
                  <a:ext uri="{0D108BD9-81ED-4DB2-BD59-A6C34878D82A}">
                    <a16:rowId xmlns:a16="http://schemas.microsoft.com/office/drawing/2014/main" val="497433969"/>
                  </a:ext>
                </a:extLst>
              </a:tr>
              <a:tr h="1003177">
                <a:tc>
                  <a:txBody>
                    <a:bodyPr/>
                    <a:lstStyle/>
                    <a:p>
                      <a:r>
                        <a:rPr lang="es-CO" sz="1500"/>
                        <a:t>1</a:t>
                      </a:r>
                    </a:p>
                  </a:txBody>
                  <a:tcPr marL="69989" marR="69989" marT="34995" marB="34995" anchor="ctr"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El sitio dispone de mecanismos que facilitan la orientación y navegación del usuario (mapa del sitio, menú principal, rutas de navegación, entre otros).</a:t>
                      </a:r>
                    </a:p>
                  </a:txBody>
                  <a:tcPr marL="69989" marR="69989" marT="34995" marB="34995" anchor="ctr"/>
                </a:tc>
                <a:extLst>
                  <a:ext uri="{0D108BD9-81ED-4DB2-BD59-A6C34878D82A}">
                    <a16:rowId xmlns:a16="http://schemas.microsoft.com/office/drawing/2014/main" val="1505903734"/>
                  </a:ext>
                </a:extLst>
              </a:tr>
              <a:tr h="536583">
                <a:tc>
                  <a:txBody>
                    <a:bodyPr/>
                    <a:lstStyle/>
                    <a:p>
                      <a:r>
                        <a:rPr lang="es-CO" sz="1500"/>
                        <a:t>2</a:t>
                      </a:r>
                    </a:p>
                  </a:txBody>
                  <a:tcPr marL="69989" marR="69989" marT="34995" marB="3499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El sistema de navegación es intuitivo y fácil de comprender.</a:t>
                      </a:r>
                    </a:p>
                  </a:txBody>
                  <a:tcPr marL="69989" marR="69989" marT="34995" marB="34995" anchor="ctr"/>
                </a:tc>
                <a:extLst>
                  <a:ext uri="{0D108BD9-81ED-4DB2-BD59-A6C34878D82A}">
                    <a16:rowId xmlns:a16="http://schemas.microsoft.com/office/drawing/2014/main" val="1898089089"/>
                  </a:ext>
                </a:extLst>
              </a:tr>
              <a:tr h="536583">
                <a:tc>
                  <a:txBody>
                    <a:bodyPr/>
                    <a:lstStyle/>
                    <a:p>
                      <a:r>
                        <a:rPr lang="es-CO" sz="1500"/>
                        <a:t>3</a:t>
                      </a:r>
                    </a:p>
                  </a:txBody>
                  <a:tcPr marL="69989" marR="69989" marT="34995" marB="3499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El pie de página incluye enlaces relevantes y accesibles para el usuario.</a:t>
                      </a:r>
                    </a:p>
                  </a:txBody>
                  <a:tcPr marL="69989" marR="69989" marT="34995" marB="34995" anchor="ctr"/>
                </a:tc>
                <a:extLst>
                  <a:ext uri="{0D108BD9-81ED-4DB2-BD59-A6C34878D82A}">
                    <a16:rowId xmlns:a16="http://schemas.microsoft.com/office/drawing/2014/main" val="675344625"/>
                  </a:ext>
                </a:extLst>
              </a:tr>
              <a:tr h="536583">
                <a:tc>
                  <a:txBody>
                    <a:bodyPr/>
                    <a:lstStyle/>
                    <a:p>
                      <a:r>
                        <a:rPr lang="es-CO" sz="1500"/>
                        <a:t>4</a:t>
                      </a:r>
                    </a:p>
                  </a:txBody>
                  <a:tcPr marL="69989" marR="69989" marT="34995" marB="3499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El acceso al portal evita redireccionamientos innecesarios que puedan confundir al usuario.</a:t>
                      </a:r>
                    </a:p>
                  </a:txBody>
                  <a:tcPr marL="69989" marR="69989" marT="34995" marB="34995" anchor="ctr"/>
                </a:tc>
                <a:extLst>
                  <a:ext uri="{0D108BD9-81ED-4DB2-BD59-A6C34878D82A}">
                    <a16:rowId xmlns:a16="http://schemas.microsoft.com/office/drawing/2014/main" val="1456073772"/>
                  </a:ext>
                </a:extLst>
              </a:tr>
              <a:tr h="536583">
                <a:tc>
                  <a:txBody>
                    <a:bodyPr/>
                    <a:lstStyle/>
                    <a:p>
                      <a:r>
                        <a:rPr lang="es-CO" sz="1500"/>
                        <a:t>5</a:t>
                      </a:r>
                    </a:p>
                  </a:txBody>
                  <a:tcPr marL="69989" marR="69989" marT="34995" marB="34995" anchor="ctr"/>
                </a:tc>
                <a:tc>
                  <a:txBody>
                    <a:bodyPr/>
                    <a:lstStyle/>
                    <a:p>
                      <a:r>
                        <a:rPr lang="es-CO" sz="1500"/>
                        <a:t>Los enlaces se identifican claramente mediante texto, color o elementos visuales consistentes.</a:t>
                      </a:r>
                    </a:p>
                  </a:txBody>
                  <a:tcPr marL="69989" marR="69989" marT="34995" marB="34995" anchor="ctr"/>
                </a:tc>
                <a:extLst>
                  <a:ext uri="{0D108BD9-81ED-4DB2-BD59-A6C34878D82A}">
                    <a16:rowId xmlns:a16="http://schemas.microsoft.com/office/drawing/2014/main" val="4186093199"/>
                  </a:ext>
                </a:extLst>
              </a:tr>
              <a:tr h="536583">
                <a:tc>
                  <a:txBody>
                    <a:bodyPr/>
                    <a:lstStyle/>
                    <a:p>
                      <a:r>
                        <a:rPr lang="es-CO" sz="1500"/>
                        <a:t>6</a:t>
                      </a:r>
                    </a:p>
                  </a:txBody>
                  <a:tcPr marL="69989" marR="69989" marT="34995" marB="34995" anchor="ctr"/>
                </a:tc>
                <a:tc>
                  <a:txBody>
                    <a:bodyPr/>
                    <a:lstStyle/>
                    <a:p>
                      <a:r>
                        <a:rPr lang="es-ES" sz="1500"/>
                        <a:t>El usuario puede regresar fácilmente a la página principal desde cualquier sección del sitio.</a:t>
                      </a:r>
                    </a:p>
                  </a:txBody>
                  <a:tcPr marL="69989" marR="69989" marT="34995" marB="34995" anchor="ctr"/>
                </a:tc>
                <a:extLst>
                  <a:ext uri="{0D108BD9-81ED-4DB2-BD59-A6C34878D82A}">
                    <a16:rowId xmlns:a16="http://schemas.microsoft.com/office/drawing/2014/main" val="2333217499"/>
                  </a:ext>
                </a:extLst>
              </a:tr>
              <a:tr h="536583">
                <a:tc>
                  <a:txBody>
                    <a:bodyPr/>
                    <a:lstStyle/>
                    <a:p>
                      <a:r>
                        <a:rPr lang="es-CO" sz="1500"/>
                        <a:t>7</a:t>
                      </a:r>
                    </a:p>
                  </a:txBody>
                  <a:tcPr marL="69989" marR="69989" marT="34995" marB="34995" anchor="ctr"/>
                </a:tc>
                <a:tc>
                  <a:txBody>
                    <a:bodyPr/>
                    <a:lstStyle/>
                    <a:p>
                      <a:r>
                        <a:rPr lang="es-ES" sz="1500" dirty="0"/>
                        <a:t>El menú presenta una cantidad adecuada de opciones</a:t>
                      </a:r>
                    </a:p>
                  </a:txBody>
                  <a:tcPr marL="69989" marR="69989" marT="34995" marB="34995" anchor="ctr"/>
                </a:tc>
                <a:extLst>
                  <a:ext uri="{0D108BD9-81ED-4DB2-BD59-A6C34878D82A}">
                    <a16:rowId xmlns:a16="http://schemas.microsoft.com/office/drawing/2014/main" val="264515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89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655FB-623E-4F5C-B7B8-F51E41D09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Indicadores de evaluación usabilidad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9CB0F26-34BB-4600-B1E2-EF64E9849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463318"/>
              </p:ext>
            </p:extLst>
          </p:nvPr>
        </p:nvGraphicFramePr>
        <p:xfrm>
          <a:off x="765820" y="1268760"/>
          <a:ext cx="10657184" cy="490673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1418395972"/>
                    </a:ext>
                  </a:extLst>
                </a:gridCol>
                <a:gridCol w="10369152">
                  <a:extLst>
                    <a:ext uri="{9D8B030D-6E8A-4147-A177-3AD203B41FA5}">
                      <a16:colId xmlns:a16="http://schemas.microsoft.com/office/drawing/2014/main" val="1780415781"/>
                    </a:ext>
                  </a:extLst>
                </a:gridCol>
              </a:tblGrid>
              <a:tr h="250984">
                <a:tc>
                  <a:txBody>
                    <a:bodyPr/>
                    <a:lstStyle/>
                    <a:p>
                      <a:r>
                        <a:rPr lang="es-CO" sz="1000" dirty="0" err="1"/>
                        <a:t>N°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/>
                        <a:t>Criterio de evaluación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1852142342"/>
                  </a:ext>
                </a:extLst>
              </a:tr>
              <a:tr h="401725">
                <a:tc>
                  <a:txBody>
                    <a:bodyPr/>
                    <a:lstStyle/>
                    <a:p>
                      <a:r>
                        <a:rPr lang="es-CO" sz="1000" dirty="0"/>
                        <a:t>16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Se especifican claramente los requisitos técnicos para el correcto funcionamiento del sitio (navegador, sistema operativo, resolución de pantalla, entre otros).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2237471282"/>
                  </a:ext>
                </a:extLst>
              </a:tr>
              <a:tr h="463539">
                <a:tc>
                  <a:txBody>
                    <a:bodyPr/>
                    <a:lstStyle/>
                    <a:p>
                      <a:r>
                        <a:rPr lang="es-CO" sz="1000" dirty="0"/>
                        <a:t>17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La estructura de navegación está organizada según las necesidades y el perfil de los usuarios.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51538304"/>
                  </a:ext>
                </a:extLst>
              </a:tr>
              <a:tr h="250984">
                <a:tc>
                  <a:txBody>
                    <a:bodyPr/>
                    <a:lstStyle/>
                    <a:p>
                      <a:r>
                        <a:rPr lang="es-CO" sz="1000" dirty="0"/>
                        <a:t>18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El tiempo de carga de las páginas es adecuado.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1081691601"/>
                  </a:ext>
                </a:extLst>
              </a:tr>
              <a:tr h="365597">
                <a:tc>
                  <a:txBody>
                    <a:bodyPr/>
                    <a:lstStyle/>
                    <a:p>
                      <a:r>
                        <a:rPr lang="es-CO" sz="1000" dirty="0"/>
                        <a:t>19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No se utilizan marcos (frames) que dificulten la navegación y el acceso al contenido.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684155013"/>
                  </a:ext>
                </a:extLst>
              </a:tr>
              <a:tr h="334106">
                <a:tc>
                  <a:txBody>
                    <a:bodyPr/>
                    <a:lstStyle/>
                    <a:p>
                      <a:r>
                        <a:rPr lang="es-CO" sz="1000" dirty="0"/>
                        <a:t>20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Los rótulos y etiquetas son claros, consistentes y utilizan términos reconocibles por los usuarios (Mapa del sitio, Acerca de, Ayuda, Preguntas Frecuentes, Registro, etc.).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3416154067"/>
                  </a:ext>
                </a:extLst>
              </a:tr>
              <a:tr h="463539">
                <a:tc>
                  <a:txBody>
                    <a:bodyPr/>
                    <a:lstStyle/>
                    <a:p>
                      <a:r>
                        <a:rPr lang="es-CO" sz="1000" dirty="0"/>
                        <a:t>21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Existe una opción de búsqueda visible y fácilmente accesible desde la página principal.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3629990427"/>
                  </a:ext>
                </a:extLst>
              </a:tr>
              <a:tr h="400557">
                <a:tc>
                  <a:txBody>
                    <a:bodyPr/>
                    <a:lstStyle/>
                    <a:p>
                      <a:r>
                        <a:rPr lang="es-CO" sz="1000" dirty="0"/>
                        <a:t>22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Se dispone de funciones de búsqueda avanzada cuando la cantidad de contenido lo requiere.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3142285916"/>
                  </a:ext>
                </a:extLst>
              </a:tr>
              <a:tr h="463539">
                <a:tc>
                  <a:txBody>
                    <a:bodyPr/>
                    <a:lstStyle/>
                    <a:p>
                      <a:r>
                        <a:rPr lang="es-CO" sz="1000" dirty="0"/>
                        <a:t>23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El sitio puede visualizarse sin necesidad de instalar complementos o programas adicionales.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2185286681"/>
                  </a:ext>
                </a:extLst>
              </a:tr>
              <a:tr h="256541">
                <a:tc>
                  <a:txBody>
                    <a:bodyPr/>
                    <a:lstStyle/>
                    <a:p>
                      <a:r>
                        <a:rPr lang="es-CO" sz="1000" dirty="0"/>
                        <a:t>24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Los elementos multimedia utilizados aportan valor y no interfieren con la experiencia del usuario.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200092625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r>
                        <a:rPr lang="es-CO" sz="1000" dirty="0"/>
                        <a:t>25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Las imágenes e ilustraciones apoyan la comprensión del contenido y mantienen un equilibrio visual adecuado.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185251191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r>
                        <a:rPr lang="es-CO" sz="1000" dirty="0"/>
                        <a:t>26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La tipografía es legible y apropiada en cuanto a tamaño, contraste y estilo.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12154859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r>
                        <a:rPr lang="es-CO" sz="1000" dirty="0"/>
                        <a:t>27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Cada página posee títulos descriptivos que facilitan la orientación y el posicionamiento en buscadores.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3055549201"/>
                  </a:ext>
                </a:extLst>
              </a:tr>
              <a:tr h="463539">
                <a:tc>
                  <a:txBody>
                    <a:bodyPr/>
                    <a:lstStyle/>
                    <a:p>
                      <a:r>
                        <a:rPr lang="es-CO" sz="1000" dirty="0"/>
                        <a:t>28</a:t>
                      </a:r>
                      <a:endParaRPr lang="es-CO" sz="1000" b="1" dirty="0"/>
                    </a:p>
                  </a:txBody>
                  <a:tcPr marL="38574" marR="38574" marT="19287" marB="19287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Se evita el uso excesivo de ventanas emergentes (pop-ups) que interrumpan la navegación</a:t>
                      </a:r>
                    </a:p>
                  </a:txBody>
                  <a:tcPr marL="38574" marR="38574" marT="19287" marB="19287" anchor="ctr"/>
                </a:tc>
                <a:extLst>
                  <a:ext uri="{0D108BD9-81ED-4DB2-BD59-A6C34878D82A}">
                    <a16:rowId xmlns:a16="http://schemas.microsoft.com/office/drawing/2014/main" val="2205341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691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2B1F22C-2231-4FF2-BF41-7C49AE45D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42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C3CB88A-8D21-4B62-8BC8-7C5D2F17A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2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5E5CD6D-7659-4F18-8C7D-2E7E39B6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8" y="212642"/>
            <a:ext cx="9649072" cy="643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75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29D14E4-D2EE-4230-9AF3-A5AACE33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0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E8CE291-22A8-4071-8826-2AE0D2BE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386" y="58316"/>
            <a:ext cx="10112052" cy="67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5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495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3B9C7CC9E31B4AB67176CFABDCEF89" ma:contentTypeVersion="0" ma:contentTypeDescription="Crear nuevo documento." ma:contentTypeScope="" ma:versionID="58eca6e94df307946bbcf623fbeb208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f6edc329ff236629c56e3b879b320d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7B06E4-6E57-4D0D-8547-C1D0CBEB7B9D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B63564D-F064-4A3B-8B09-ABBF037A7F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A1998A-10DE-4E5A-AFCE-9D130655EF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523</Words>
  <Application>Microsoft Office PowerPoint</Application>
  <PresentationFormat>Personalizado</PresentationFormat>
  <Paragraphs>62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Tahoma Bold</vt:lpstr>
      <vt:lpstr>Tema de Office</vt:lpstr>
      <vt:lpstr>FACULTAD DE INGENIERÍAS  Leyes Usabilidad  Diseño de Interfaces</vt:lpstr>
      <vt:lpstr>Presentación de PowerPoint</vt:lpstr>
      <vt:lpstr>Leyes usabilidad las mas importantes</vt:lpstr>
      <vt:lpstr>¿Porqué es importante la usabilidad?</vt:lpstr>
      <vt:lpstr>Presentación de PowerPoint</vt:lpstr>
      <vt:lpstr>Indicadores de evaluación usabilidad</vt:lpstr>
      <vt:lpstr>Indicadores de evaluación usabilidad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CELEBRACIÓN DÍA DEL PROFESOR</dc:title>
  <dc:creator>Luisa Fernanda Restrepo Marin</dc:creator>
  <cp:lastModifiedBy>Estudiantes Bogotá</cp:lastModifiedBy>
  <cp:revision>155</cp:revision>
  <dcterms:created xsi:type="dcterms:W3CDTF">2016-03-18T12:52:08Z</dcterms:created>
  <dcterms:modified xsi:type="dcterms:W3CDTF">2026-09-18T23:39:40Z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0x0101003E3B9C7CC9E31B4AB67176CFABDCEF89</vt:lpwstr>
  </property>
</Properties>
</file>